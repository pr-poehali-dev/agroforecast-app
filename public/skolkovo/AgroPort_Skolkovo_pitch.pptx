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9A1E"/>
                </a:solidFill>
                <a:latin typeface="Calibri"/>
              </a:rPr>
              <a:t>АГРОПОРТ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Прогноз цен на зерно и масличные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с открытой проверкой точности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FECE2"/>
                </a:solidFill>
                <a:latin typeface="Calibri"/>
              </a:rPr>
              <a:t>Помогаем хозяйствам выбрать момент продажи урожая на основе модели,</a:t>
            </a:r>
          </a:p>
          <a:p>
            <a:pPr algn="l"/>
            <a:r>
              <a:rPr sz="1800" b="0">
                <a:solidFill>
                  <a:srgbClr val="DFECE2"/>
                </a:solidFill>
                <a:latin typeface="Calibri"/>
              </a:rPr>
              <a:t>точность которой измерена на истории и опубликована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ООО «МАТ-Лабс» · заявка на статус участника «Сколково»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6035040"/>
            <a:ext cx="36576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080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2621"/>
                </a:solidFill>
                <a:latin typeface="Calibri"/>
              </a:rPr>
              <a:t>Кластер: </a:t>
            </a:r>
            <a:r>
              <a:rPr sz="1300" b="1">
                <a:solidFill>
                  <a:srgbClr val="C62828"/>
                </a:solidFill>
                <a:latin typeface="Calibri"/>
              </a:rPr>
              <a:t>[ЗАПОЛНИТЬ]</a:t>
            </a:r>
            <a:r>
              <a:rPr sz="1300">
                <a:solidFill>
                  <a:srgbClr val="1D2621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4A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D2621"/>
                </a:solidFill>
                <a:latin typeface="Calibri"/>
              </a:rPr>
              <a:t>Проблема: когда продавать урожай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4"/>
                </a:solidFill>
                <a:latin typeface="Calibri"/>
              </a:rPr>
              <a:t>Цена производителя меняется на проценты в месяц, а решение принимается по интуиции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4747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2E8B4A"/>
                </a:solidFill>
                <a:latin typeface="Calibri"/>
              </a:rPr>
              <a:t>11.63%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средняя ошибка правила «цена не изменится» для пшеницы на 6 месяцев (2020–2026)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03120"/>
            <a:ext cx="34747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2E8B4A"/>
                </a:solidFill>
                <a:latin typeface="Calibri"/>
              </a:rPr>
              <a:t>20.46%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4747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то же для подсолнечника — цена семечки ещё волатильнее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03120"/>
            <a:ext cx="34747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2E8B4A"/>
                </a:solidFill>
                <a:latin typeface="Calibri"/>
              </a:rPr>
              <a:t>3.38%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4747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средняя ошибка того же правила для пшеницы даже на 1 месяц вперёд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4"/>
                </a:solidFill>
                <a:latin typeface="Calibri"/>
              </a:rPr>
              <a:t>Аналитика на рынке — либо мнения без измеренной точности, либо дорогие терминалы для трейдеров. Малым и средним хозяйствам нечем проверить прогноз.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B64"/>
                </a:solidFill>
                <a:latin typeface="Calibri"/>
              </a:rPr>
              <a:t>АгроПорт · agroport-ai.ru/tech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4A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D2621"/>
                </a:solidFill>
                <a:latin typeface="Calibri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4"/>
                </a:solidFill>
                <a:latin typeface="Calibri"/>
              </a:rPr>
              <a:t>Прогноз цены на 1, 3 и 6 месяцев с интервалом — и честное сравнение с простым ориентиром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B4A"/>
                </a:solidFill>
                <a:latin typeface="Calibri"/>
              </a:rPr>
              <a:t>Прогноз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Цена производителя по пшенице, кукурузе и подсолнечнику на 1/3/6 месяцев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B4A"/>
                </a:solidFill>
                <a:latin typeface="Calibri"/>
              </a:rPr>
              <a:t>Интервал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97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80% диапазон, построенный по реальным ошибкам модели на истории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B4A"/>
                </a:solidFill>
                <a:latin typeface="Calibri"/>
              </a:rPr>
              <a:t>Проверка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Ошибка модели и ориентира показаны рядом — пользователь видит, где модели можно доверять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B4A"/>
                </a:solidFill>
                <a:latin typeface="Calibri"/>
              </a:rPr>
              <a:t>Контекст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Новости рынка, котировки, база хозяйств и CRM в одном окне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B64"/>
                </a:solidFill>
                <a:latin typeface="Calibri"/>
              </a:rPr>
              <a:t>АгроПорт · agroport-ai.ru/tech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4A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D2621"/>
                </a:solidFill>
                <a:latin typeface="Calibri"/>
              </a:rPr>
              <a:t>Технология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4"/>
                </a:solidFill>
                <a:latin typeface="Calibri"/>
              </a:rPr>
              <a:t>Модель трансмиссии мировых цен на внутренний рынок РФ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4A"/>
                </a:solidFill>
                <a:latin typeface="Calibri"/>
              </a:rPr>
              <a:t>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Росстат: цены производителей с 2008 г.</a:t>
            </a:r>
          </a:p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Всемирный банк: мировые цены</a:t>
            </a:r>
          </a:p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Банк России: курс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F6B64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4A"/>
                </a:solidFill>
                <a:latin typeface="Calibri"/>
              </a:rPr>
              <a:t>Признаки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4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Импульс цены</a:t>
            </a:r>
          </a:p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Мировая цена в рублях</a:t>
            </a:r>
          </a:p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Спред к экспортному паритету</a:t>
            </a:r>
          </a:p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Сезонность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F6B64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10312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4A"/>
                </a:solidFill>
                <a:latin typeface="Calibri"/>
              </a:rPr>
              <a:t>Модель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83464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Гребневая регрессия</a:t>
            </a:r>
          </a:p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Вес сигнала подбирается</a:t>
            </a:r>
          </a:p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на валидации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F6B64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10312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19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4A"/>
                </a:solidFill>
                <a:latin typeface="Calibri"/>
              </a:rPr>
              <a:t>Выход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83464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Прогноз на 1/3/6 мес</a:t>
            </a:r>
          </a:p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80% интервал</a:t>
            </a:r>
          </a:p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Метрики точности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4"/>
                </a:solidFill>
                <a:latin typeface="Calibri"/>
              </a:rPr>
              <a:t>Новизна: учёт нестационарной связи внутренней и мировой цены в условиях экспортных пошлин и публичный протокол проверки точности.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B64"/>
                </a:solidFill>
                <a:latin typeface="Calibri"/>
              </a:rPr>
              <a:t>АгроПорт · agroport-ai.ru/tech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4A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D2621"/>
                </a:solidFill>
                <a:latin typeface="Calibri"/>
              </a:rPr>
              <a:t>Точность, измеренная на истории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4"/>
                </a:solidFill>
                <a:latin typeface="Calibri"/>
              </a:rPr>
              <a:t>Подбор параметров 2012–2019 · оценка 2020–2026 скользящим окном · модель видит только прошлое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Культура</a:t>
                      </a:r>
                    </a:p>
                  </a:txBody>
                  <a:tcPr>
                    <a:solidFill>
                      <a:srgbClr val="1F6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Горизонт</a:t>
                      </a:r>
                    </a:p>
                  </a:txBody>
                  <a:tcPr>
                    <a:solidFill>
                      <a:srgbClr val="1F6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Ошибка модели</a:t>
                      </a:r>
                    </a:p>
                  </a:txBody>
                  <a:tcPr>
                    <a:solidFill>
                      <a:srgbClr val="1F6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Ориентир</a:t>
                      </a:r>
                    </a:p>
                  </a:txBody>
                  <a:tcPr>
                    <a:solidFill>
                      <a:srgbClr val="1F6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Улучшение</a:t>
                      </a:r>
                    </a:p>
                  </a:txBody>
                  <a:tcPr>
                    <a:solidFill>
                      <a:srgbClr val="1F6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Направление</a:t>
                      </a:r>
                    </a:p>
                  </a:txBody>
                  <a:tcPr>
                    <a:solidFill>
                      <a:srgbClr val="1F6F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Пшеница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1 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3.34%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3.38%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8B4A"/>
                          </a:solidFill>
                        </a:rPr>
                        <a:t>+1.1%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58.2%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Пшеница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3 мес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9.05%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8.22%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62828"/>
                          </a:solidFill>
                        </a:rPr>
                        <a:t>-10.0%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58.4%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Пшеница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6 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14.18%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11.63%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62828"/>
                          </a:solidFill>
                        </a:rPr>
                        <a:t>-21.9%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47.3%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Кукуруза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1 мес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5.45%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4.65%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62828"/>
                          </a:solidFill>
                        </a:rPr>
                        <a:t>-17.1%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57.0%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Кукуруза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3 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10.53%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9.41%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62828"/>
                          </a:solidFill>
                        </a:rPr>
                        <a:t>-11.9%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62.3%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Кукуруза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6 мес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14.22%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14.47%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8B4A"/>
                          </a:solidFill>
                        </a:rPr>
                        <a:t>+1.8%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63.5%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Подсолнечник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1 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5.25%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8B4A"/>
                          </a:solidFill>
                        </a:rPr>
                        <a:t>+12.6%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73.4%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Подсолнечник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3 мес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12.37%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13.77%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8B4A"/>
                          </a:solidFill>
                        </a:rPr>
                        <a:t>+10.1%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71.4%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Подсолнечник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6 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20.46%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20.46%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E8B4A"/>
                          </a:solidFill>
                        </a:rPr>
                        <a:t>+0.0%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262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F6B64"/>
                </a:solidFill>
                <a:latin typeface="Calibri"/>
              </a:rPr>
              <a:t>Показываем и слабые места: где модель не лучше ориентира — это задача следующего этапа R&amp;D.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B64"/>
                </a:solidFill>
                <a:latin typeface="Calibri"/>
              </a:rPr>
              <a:t>АгроПорт · agroport-ai.ru/tech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4A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D2621"/>
                </a:solidFill>
                <a:latin typeface="Calibri"/>
              </a:rPr>
              <a:t>Проверка на истории: подсолнечник, 1 месяц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4"/>
                </a:solidFill>
                <a:latin typeface="Calibri"/>
              </a:rPr>
              <a:t>Ошибка модели 5.25% против 6.0% у ориентира · направление угадано в 73.4% случаев</a:t>
            </a:r>
          </a:p>
        </p:txBody>
      </p:sp>
      <p:pic>
        <p:nvPicPr>
          <p:cNvPr id="5" name="Picture 4" descr="b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10515600" cy="4416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B64"/>
                </a:solidFill>
                <a:latin typeface="Calibri"/>
              </a:rPr>
              <a:t>АгроПорт · agroport-ai.ru/tech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4A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D2621"/>
                </a:solidFill>
                <a:latin typeface="Calibri"/>
              </a:rPr>
              <a:t>Продукт уже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4"/>
                </a:solidFill>
                <a:latin typeface="Calibri"/>
              </a:rPr>
              <a:t>agroport-ai.ru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4A"/>
                </a:solidFill>
                <a:latin typeface="Calibri"/>
              </a:rPr>
              <a:t>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0116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Прогноз цен с проверкой на истории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4A"/>
                </a:solidFill>
                <a:latin typeface="Calibri"/>
              </a:rPr>
              <a:t>Работает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974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Лента новостей АПК из открытых источников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4A"/>
                </a:solidFill>
                <a:latin typeface="Calibri"/>
              </a:rPr>
              <a:t>Работает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832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База 2 864 хозяйств, рейтинг перспективности, CRM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77639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690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9A1E"/>
                </a:solidFill>
                <a:latin typeface="Calibri"/>
              </a:rPr>
              <a:t>Частично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069079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Сбор и накопление рыночных котировок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548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9A1E"/>
                </a:solidFill>
                <a:latin typeface="Calibri"/>
              </a:rPr>
              <a:t>Частично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754879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Маркетплейс объявлений с модерацией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406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F6B64"/>
                </a:solidFill>
                <a:latin typeface="Calibri"/>
              </a:rPr>
              <a:t>В разработке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440679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>NDVI по полю (Sentinel-2), прогноз урожайности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B64"/>
                </a:solidFill>
                <a:latin typeface="Calibri"/>
              </a:rPr>
              <a:t>АгроПорт · agroport-ai.ru/tech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4A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D2621"/>
                </a:solidFill>
                <a:latin typeface="Calibri"/>
              </a:rPr>
              <a:t>Клиенты и рынок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4A"/>
                </a:solidFill>
                <a:latin typeface="Calibri"/>
              </a:rPr>
              <a:t>Хозяйства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Когда продавать урожай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55448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4A"/>
                </a:solidFill>
                <a:latin typeface="Calibri"/>
              </a:rPr>
              <a:t>Трейдеры и переработчики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Где и у кого закупать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55448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4A"/>
                </a:solidFill>
                <a:latin typeface="Calibri"/>
              </a:rPr>
              <a:t>Банки и страховщики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2621"/>
                </a:solidFill>
                <a:latin typeface="Calibri"/>
              </a:rPr>
              <a:t>Ценовые сценарии и риски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D2621"/>
                </a:solidFill>
                <a:latin typeface="Calibri"/>
              </a:rPr>
              <a:t>TAM: </a:t>
            </a:r>
            <a:r>
              <a:rPr sz="1800" b="1">
                <a:solidFill>
                  <a:srgbClr val="C62828"/>
                </a:solidFill>
                <a:latin typeface="Calibri"/>
              </a:rPr>
              <a:t>[ЗАПОЛНИТЬ: объём, источник]</a:t>
            </a:r>
            <a:r>
              <a:rPr sz="1800">
                <a:solidFill>
                  <a:srgbClr val="1D2621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1D2621"/>
                </a:solidFill>
                <a:latin typeface="Calibri"/>
              </a:rPr>
              <a:t>SAM: </a:t>
            </a:r>
            <a:r>
              <a:rPr sz="1800" b="1">
                <a:solidFill>
                  <a:srgbClr val="C62828"/>
                </a:solidFill>
                <a:latin typeface="Calibri"/>
              </a:rPr>
              <a:t>[ЗАПОЛНИТЬ]</a:t>
            </a:r>
            <a:r>
              <a:rPr sz="1800">
                <a:solidFill>
                  <a:srgbClr val="1D2621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1D2621"/>
                </a:solidFill>
                <a:latin typeface="Calibri"/>
              </a:rPr>
              <a:t>SOM: </a:t>
            </a:r>
            <a:r>
              <a:rPr sz="1800" b="1">
                <a:solidFill>
                  <a:srgbClr val="C62828"/>
                </a:solidFill>
                <a:latin typeface="Calibri"/>
              </a:rPr>
              <a:t>[ЗАПОЛНИТЬ]</a:t>
            </a:r>
            <a:r>
              <a:rPr sz="1800">
                <a:solidFill>
                  <a:srgbClr val="1D2621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1D2621"/>
                </a:solidFill>
                <a:latin typeface="Calibri"/>
              </a:rPr>
              <a:t>Конкуренты и наше отличие: </a:t>
            </a:r>
            <a:r>
              <a:rPr sz="1800" b="1">
                <a:solidFill>
                  <a:srgbClr val="C62828"/>
                </a:solidFill>
                <a:latin typeface="Calibri"/>
              </a:rPr>
              <a:t>[ЗАПОЛНИТЬ]</a:t>
            </a:r>
            <a:r>
              <a:rPr sz="1800">
                <a:solidFill>
                  <a:srgbClr val="1D2621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B64"/>
                </a:solidFill>
                <a:latin typeface="Calibri"/>
              </a:rPr>
              <a:t>АгроПорт · agroport-ai.ru/tech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4A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D2621"/>
                </a:solidFill>
                <a:latin typeface="Calibri"/>
              </a:rPr>
              <a:t>Бизнес-модель и текущие показатели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6B64"/>
                </a:solidFill>
                <a:latin typeface="Calibri"/>
              </a:rPr>
              <a:t>Тарифы опубликованы на сайте; цены — гипотеза, проверяется на первых клиентах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F6B64"/>
                </a:solidFill>
                <a:latin typeface="Calibri"/>
              </a:rPr>
              <a:t>Базовый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8B4A"/>
                </a:solidFill>
                <a:latin typeface="Calibri"/>
              </a:rPr>
              <a:t>0 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D2621"/>
                </a:solidFill>
                <a:latin typeface="Calibri"/>
              </a:rPr>
              <a:t>новости, базовые прогнозы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0116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F6B64"/>
                </a:solidFill>
                <a:latin typeface="Calibri"/>
              </a:rPr>
              <a:t>Профессионал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8B4A"/>
                </a:solidFill>
                <a:latin typeface="Calibri"/>
              </a:rPr>
              <a:t>1 490 ₽/мес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D2621"/>
                </a:solidFill>
                <a:latin typeface="Calibri"/>
              </a:rPr>
              <a:t>все горизонты, экспорт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0116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48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F6B64"/>
                </a:solidFill>
                <a:latin typeface="Calibri"/>
              </a:rPr>
              <a:t>Корпоративный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8B4A"/>
                </a:solidFill>
                <a:latin typeface="Calibri"/>
              </a:rPr>
              <a:t>8 900 ₽/мес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D2621"/>
                </a:solidFill>
                <a:latin typeface="Calibri"/>
              </a:rPr>
              <a:t>API, интеграции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D2621"/>
                </a:solidFill>
                <a:latin typeface="Calibri"/>
              </a:rPr>
              <a:t>Пользователи в системе: 3 · хозяйств в базе: 2 864</a:t>
            </a:r>
          </a:p>
          <a:p>
            <a:pPr algn="l"/>
            <a:r>
              <a:rPr sz="1800" b="0">
                <a:solidFill>
                  <a:srgbClr val="1D2621"/>
                </a:solidFill>
                <a:latin typeface="Calibri"/>
              </a:rPr>
              <a:t>Платящие клиенты: </a:t>
            </a:r>
            <a:r>
              <a:rPr sz="1800" b="1">
                <a:solidFill>
                  <a:srgbClr val="C62828"/>
                </a:solidFill>
                <a:latin typeface="Calibri"/>
              </a:rPr>
              <a:t>[ЗАПОЛНИТЬ]</a:t>
            </a:r>
            <a:r>
              <a:rPr sz="1800">
                <a:solidFill>
                  <a:srgbClr val="1D2621"/>
                </a:solidFill>
                <a:latin typeface="Calibri"/>
              </a:rPr>
              <a:t>   Выручка: </a:t>
            </a:r>
            <a:r>
              <a:rPr sz="1800" b="1">
                <a:solidFill>
                  <a:srgbClr val="C62828"/>
                </a:solidFill>
                <a:latin typeface="Calibri"/>
              </a:rPr>
              <a:t>[ЗАПОЛНИТЬ]</a:t>
            </a:r>
            <a:r>
              <a:rPr sz="1800">
                <a:solidFill>
                  <a:srgbClr val="1D2621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1D2621"/>
                </a:solidFill>
                <a:latin typeface="Calibri"/>
              </a:rPr>
              <a:t>Пилоты / письма поддержки: </a:t>
            </a:r>
            <a:r>
              <a:rPr sz="1800" b="1">
                <a:solidFill>
                  <a:srgbClr val="C62828"/>
                </a:solidFill>
                <a:latin typeface="Calibri"/>
              </a:rPr>
              <a:t>[ЗАПОЛНИТЬ]</a:t>
            </a:r>
            <a:r>
              <a:rPr sz="1800">
                <a:solidFill>
                  <a:srgbClr val="1D2621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B64"/>
                </a:solidFill>
                <a:latin typeface="Calibri"/>
              </a:rPr>
              <a:t>АгроПорт · agroport-ai.ru/tech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4A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D2621"/>
                </a:solidFill>
                <a:latin typeface="Calibri"/>
              </a:rPr>
              <a:t>Дорожная карта R&amp;D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F6B64"/>
                </a:solidFill>
                <a:latin typeface="Calibri"/>
              </a:rPr>
              <a:t>Этап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621"/>
                </a:solidFill>
                <a:latin typeface="Calibri"/>
              </a:rPr>
              <a:t>Проверяемый прогноз цен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805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B4A"/>
                </a:solidFill>
                <a:latin typeface="Calibri"/>
              </a:rPr>
              <a:t>Выполнено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F6B64"/>
                </a:solidFill>
                <a:latin typeface="Calibri"/>
              </a:rPr>
              <a:t>Этап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23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621"/>
                </a:solidFill>
                <a:latin typeface="Calibri"/>
              </a:rPr>
              <a:t>Пошлины и квоты в модели, региональные ряды, сравнение с SARIMA и бустингом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4805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2621"/>
                </a:solidFill>
                <a:latin typeface="Calibri"/>
              </a:rPr>
              <a:t/>
            </a:r>
            <a:r>
              <a:rPr sz="1300" b="1">
                <a:solidFill>
                  <a:srgbClr val="C62828"/>
                </a:solidFill>
                <a:latin typeface="Calibri"/>
              </a:rPr>
              <a:t>[ЗАПОЛНИТЬ: срок]</a:t>
            </a:r>
            <a:r>
              <a:rPr sz="1300">
                <a:solidFill>
                  <a:srgbClr val="1D2621"/>
                </a:solidFill>
                <a:latin typeface="Calibr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F6B64"/>
                </a:solidFill>
                <a:latin typeface="Calibri"/>
              </a:rPr>
              <a:t>Этап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423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621"/>
                </a:solidFill>
                <a:latin typeface="Calibri"/>
              </a:rPr>
              <a:t>NDVI по контуру поля (Sentinel-2)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44805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2621"/>
                </a:solidFill>
                <a:latin typeface="Calibri"/>
              </a:rPr>
              <a:t/>
            </a:r>
            <a:r>
              <a:rPr sz="1300" b="1">
                <a:solidFill>
                  <a:srgbClr val="C62828"/>
                </a:solidFill>
                <a:latin typeface="Calibri"/>
              </a:rPr>
              <a:t>[ЗАПОЛНИТЬ: срок]</a:t>
            </a:r>
            <a:r>
              <a:rPr sz="1300">
                <a:solidFill>
                  <a:srgbClr val="1D2621"/>
                </a:solidFill>
                <a:latin typeface="Calibr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F6B64"/>
                </a:solidFill>
                <a:latin typeface="Calibri"/>
              </a:rPr>
              <a:t>Этап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42316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621"/>
                </a:solidFill>
                <a:latin typeface="Calibri"/>
              </a:rPr>
              <a:t>Прогноз урожайности по погоде и NDVI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44805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2621"/>
                </a:solidFill>
                <a:latin typeface="Calibri"/>
              </a:rPr>
              <a:t/>
            </a:r>
            <a:r>
              <a:rPr sz="1300" b="1">
                <a:solidFill>
                  <a:srgbClr val="C62828"/>
                </a:solidFill>
                <a:latin typeface="Calibri"/>
              </a:rPr>
              <a:t>[ЗАПОЛНИТЬ: срок]</a:t>
            </a:r>
            <a:r>
              <a:rPr sz="1300">
                <a:solidFill>
                  <a:srgbClr val="1D2621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2621"/>
                </a:solidFill>
                <a:latin typeface="Calibri"/>
              </a:rPr>
              <a:t>Бюджет R&amp;D: </a:t>
            </a:r>
            <a:r>
              <a:rPr sz="1600" b="1">
                <a:solidFill>
                  <a:srgbClr val="C62828"/>
                </a:solidFill>
                <a:latin typeface="Calibri"/>
              </a:rPr>
              <a:t>[ЗАПОЛНИТЬ: сумма и структура — см. пакет заявки]</a:t>
            </a:r>
            <a:r>
              <a:rPr sz="1600">
                <a:solidFill>
                  <a:srgbClr val="1D2621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B64"/>
                </a:solidFill>
                <a:latin typeface="Calibri"/>
              </a:rPr>
              <a:t>АгроПорт · agroport-ai.ru/tech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B4A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D2621"/>
                </a:solidFill>
                <a:latin typeface="Calibri"/>
              </a:rPr>
              <a:t>Команда и запрос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/>
            </a:r>
            <a:r>
              <a:rPr sz="1500" b="1">
                <a:solidFill>
                  <a:srgbClr val="C62828"/>
                </a:solidFill>
                <a:latin typeface="Calibri"/>
              </a:rPr>
              <a:t>[ЗАПОЛНИТЬ: ФИО]</a:t>
            </a:r>
            <a:r>
              <a:rPr sz="1500">
                <a:solidFill>
                  <a:srgbClr val="1D2621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/>
            </a:r>
            <a:r>
              <a:rPr sz="1500" b="1">
                <a:solidFill>
                  <a:srgbClr val="C62828"/>
                </a:solidFill>
                <a:latin typeface="Calibri"/>
              </a:rPr>
              <a:t>[ЗАПОЛНИТЬ: роль]</a:t>
            </a:r>
            <a:r>
              <a:rPr sz="1500">
                <a:solidFill>
                  <a:srgbClr val="1D2621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/>
            </a:r>
            <a:r>
              <a:rPr sz="1500" b="1">
                <a:solidFill>
                  <a:srgbClr val="C62828"/>
                </a:solidFill>
                <a:latin typeface="Calibri"/>
              </a:rPr>
              <a:t>[ЗАПОЛНИТЬ: опыт]</a:t>
            </a:r>
            <a:r>
              <a:rPr sz="1500">
                <a:solidFill>
                  <a:srgbClr val="1D2621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64592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/>
            </a:r>
            <a:r>
              <a:rPr sz="1500" b="1">
                <a:solidFill>
                  <a:srgbClr val="C62828"/>
                </a:solidFill>
                <a:latin typeface="Calibri"/>
              </a:rPr>
              <a:t>[ЗАПОЛНИТЬ: ФИО]</a:t>
            </a:r>
            <a:r>
              <a:rPr sz="1500">
                <a:solidFill>
                  <a:srgbClr val="1D2621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/>
            </a:r>
            <a:r>
              <a:rPr sz="1500" b="1">
                <a:solidFill>
                  <a:srgbClr val="C62828"/>
                </a:solidFill>
                <a:latin typeface="Calibri"/>
              </a:rPr>
              <a:t>[ЗАПОЛНИТЬ: роль]</a:t>
            </a:r>
            <a:r>
              <a:rPr sz="1500">
                <a:solidFill>
                  <a:srgbClr val="1D2621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/>
            </a:r>
            <a:r>
              <a:rPr sz="1500" b="1">
                <a:solidFill>
                  <a:srgbClr val="C62828"/>
                </a:solidFill>
                <a:latin typeface="Calibri"/>
              </a:rPr>
              <a:t>[ЗАПОЛНИТЬ: опыт]</a:t>
            </a:r>
            <a:r>
              <a:rPr sz="1500">
                <a:solidFill>
                  <a:srgbClr val="1D2621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64592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/>
            </a:r>
            <a:r>
              <a:rPr sz="1500" b="1">
                <a:solidFill>
                  <a:srgbClr val="C62828"/>
                </a:solidFill>
                <a:latin typeface="Calibri"/>
              </a:rPr>
              <a:t>[ЗАПОЛНИТЬ: ФИО]</a:t>
            </a:r>
            <a:r>
              <a:rPr sz="1500">
                <a:solidFill>
                  <a:srgbClr val="1D2621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/>
            </a:r>
            <a:r>
              <a:rPr sz="1500" b="1">
                <a:solidFill>
                  <a:srgbClr val="C62828"/>
                </a:solidFill>
                <a:latin typeface="Calibri"/>
              </a:rPr>
              <a:t>[ЗАПОЛНИТЬ: роль]</a:t>
            </a:r>
            <a:r>
              <a:rPr sz="1500">
                <a:solidFill>
                  <a:srgbClr val="1D2621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1D2621"/>
                </a:solidFill>
                <a:latin typeface="Calibri"/>
              </a:rPr>
              <a:t/>
            </a:r>
            <a:r>
              <a:rPr sz="1500" b="1">
                <a:solidFill>
                  <a:srgbClr val="C62828"/>
                </a:solidFill>
                <a:latin typeface="Calibri"/>
              </a:rPr>
              <a:t>[ЗАПОЛНИТЬ: опыт]</a:t>
            </a:r>
            <a:r>
              <a:rPr sz="1500">
                <a:solidFill>
                  <a:srgbClr val="1D2621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1F6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Запрос: статус участника «Сколково» для развития R&amp;D-этапов 2–4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93776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621"/>
                </a:solidFill>
                <a:latin typeface="Calibri"/>
              </a:rPr>
              <a:t/>
            </a:r>
            <a:r>
              <a:rPr sz="1600" b="1">
                <a:solidFill>
                  <a:srgbClr val="C62828"/>
                </a:solidFill>
                <a:latin typeface="Calibri"/>
              </a:rPr>
              <a:t>[ЗАПОЛНИТЬ: грант / инвестиции / партнёрства]</a:t>
            </a:r>
            <a:r>
              <a:rPr sz="1600">
                <a:solidFill>
                  <a:srgbClr val="1D2621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4A"/>
                </a:solidFill>
                <a:latin typeface="Calibri"/>
              </a:rPr>
              <a:t>Методика и живые метрики: agroport-ai.ru/tech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